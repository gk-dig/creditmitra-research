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222"/>
    <a:srgbClr val="FF0000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53"/>
  </p:normalViewPr>
  <p:slideViewPr>
    <p:cSldViewPr snapToGrid="0">
      <p:cViewPr varScale="1">
        <p:scale>
          <a:sx n="113" d="100"/>
          <a:sy n="113" d="100"/>
        </p:scale>
        <p:origin x="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48DF5-B245-4D2C-AD81-B412E63B0E6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6530B-8C42-4E09-8DB6-CCE51DF0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34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074D1532-29CB-2100-1A32-5724D2DF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bc22d55b3_1_17:notes">
            <a:extLst>
              <a:ext uri="{FF2B5EF4-FFF2-40B4-BE49-F238E27FC236}">
                <a16:creationId xmlns:a16="http://schemas.microsoft.com/office/drawing/2014/main" id="{54B63782-63EE-B35D-350F-5D0613F79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g36bc22d55b3_1_17:notes">
            <a:extLst>
              <a:ext uri="{FF2B5EF4-FFF2-40B4-BE49-F238E27FC236}">
                <a16:creationId xmlns:a16="http://schemas.microsoft.com/office/drawing/2014/main" id="{4A85BB75-C374-613F-90FC-0183D922E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02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26FE-78FB-68F7-BB27-71ED9C15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83A7B-8A6C-899E-8E9E-4349702C1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C1D1-FBB2-E4AE-35FD-3E829611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D9931-F016-1043-D9CC-47A15B57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3EDB-F1D0-BEEC-938C-6F879458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2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057A-EE63-C8C6-891C-960B8956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984F8-D162-B89D-D629-742CC04BA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84BBE-1CDC-6EC1-3827-B422B0EE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C923-12F1-D37A-32A6-34CCD510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2B86-A2C2-AD20-BD82-16DA9ED9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41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D291-6D81-60B5-86C9-B2E58DD1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B0B7-11C9-243A-8FD5-58331E8EE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4B6A-224F-8C90-4074-1D5DB7A7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410F0-55A3-5004-E5C5-B48303A1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99B7-41A4-B1A7-B1EF-9A63621C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1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5688-A7C9-40C9-6EE2-DB0E29D7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D07DF-F37A-3214-9822-7CE33E9E6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FC265-52E8-849D-4476-A24756CF2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94CD5-2370-97FB-5C50-76CDC3CC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205-C41E-F163-7D1E-36EF8047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05F1D-604D-F829-4351-C16A030A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5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A5C1-1C93-5510-5258-25ED4C74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2FBC5-D3A9-62F6-E5F4-927192795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7E751-E329-529B-9FC7-DF90563EF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CCF90-5BA3-8FE8-C097-03C8A3274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DA40E-413D-6ED5-A48E-8CFB7C1E8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960E4-B7E1-104F-53FD-1BFEC002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EC1A5-8345-79BA-C913-5BB94F1D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00CEC-D903-5325-8312-89B469A4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3804-4587-EF06-3EAC-5B95150D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B59BD-5E60-6FEF-42E6-3A1750FA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E39D8-8E41-BC4D-CD90-EF3F68EF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0923A-7A18-91C2-0573-9448AACB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40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35EE2-75F3-7675-397C-2ECFAE7C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568D1-F5E7-466D-C0D2-1CC8BCBF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39D1C-2C5B-52B5-5C58-7B759A09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92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8DE9-BDD7-4FEF-21FF-C39EC2DF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F8B9-1E82-7C84-0D7A-6EB41ED3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F78D-754B-CC4F-C151-7A0975FFA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44CA3-9A5E-BD45-3767-1C605041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2A7F6-8CB8-988C-CB23-416D5B24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6C537-9C0D-1130-CBBB-9B7AEEA2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84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5356-25F5-DDCB-5AAC-FBC7A3E6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59FBE-EBE8-0671-359E-670891117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2DBD6-37A5-91E0-CA2E-79364E5B1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7073A-D375-55CC-33E0-83BB1EBF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B2974-4BE5-4243-54D1-04F5F0D7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7D87-3646-60B9-8EEB-4CAEB3E9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6DB7-CB29-A2E1-614B-31D3AC17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A2054-B9E3-F53F-2762-91123153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12DD-B468-E166-8012-2291BF4B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AEAA-1006-9903-AAB9-73F7AD52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DB16-BFD1-4F6A-E16A-46DF3353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10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C5A514-D799-9AAF-D6A5-3F39AA736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31825-2684-77D4-C1F3-9DB63C363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034F9-2CB7-8B96-E47F-47C03D47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C02E6-9099-E46A-EFFA-1FBC1113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B0C1-C73F-EEB7-CCF5-B4291E23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9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12638620" y="690565"/>
            <a:ext cx="92389" cy="4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33" rIns="45700" bIns="228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1"/>
          </p:nvPr>
        </p:nvSpPr>
        <p:spPr>
          <a:xfrm>
            <a:off x="438151" y="960439"/>
            <a:ext cx="1067117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1076915" y="98171"/>
            <a:ext cx="10104400" cy="4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733" b="1" i="0" u="none" strike="noStrike" cap="none">
                <a:solidFill>
                  <a:srgbClr val="F5922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961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A3C0C-7400-CC95-E0D4-9F95CA7B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E6652-08BF-AC52-B867-5DFA87CE1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61DA-AFE2-8C7E-FBE9-77CD2BD74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80183-0F1C-4203-ABFD-88B7EF358E90}" type="datetimeFigureOut">
              <a:rPr lang="en-IN" smtClean="0"/>
              <a:t>13/03/26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2C21-95D7-1A8D-C398-A44E738E5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B9DC2-CB8C-9F61-C3CA-A4171B8C7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orange logo&#10;&#10;AI-generated content may be incorrect.">
            <a:extLst>
              <a:ext uri="{FF2B5EF4-FFF2-40B4-BE49-F238E27FC236}">
                <a16:creationId xmlns:a16="http://schemas.microsoft.com/office/drawing/2014/main" id="{FD1294E3-97F2-B2FD-B4E9-0D4AE122345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607" y="7817"/>
            <a:ext cx="685680" cy="70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5E5135EC-96A3-DE02-5807-A5D0C933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">
            <a:extLst>
              <a:ext uri="{FF2B5EF4-FFF2-40B4-BE49-F238E27FC236}">
                <a16:creationId xmlns:a16="http://schemas.microsoft.com/office/drawing/2014/main" id="{D5C24C84-18DD-91EA-F595-C6EA5B3DE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19364" y="-171841"/>
            <a:ext cx="12192000" cy="48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2533" tIns="81267" rIns="162533" bIns="81267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&lt;Enter your Project name&gt;</a:t>
            </a:r>
            <a:br>
              <a:rPr lang="en-IN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462" name="Google Shape;462;p30">
            <a:extLst>
              <a:ext uri="{FF2B5EF4-FFF2-40B4-BE49-F238E27FC236}">
                <a16:creationId xmlns:a16="http://schemas.microsoft.com/office/drawing/2014/main" id="{800EBA1E-A65F-ADF8-BA07-573FF652ABB4}"/>
              </a:ext>
            </a:extLst>
          </p:cNvPr>
          <p:cNvCxnSpPr/>
          <p:nvPr/>
        </p:nvCxnSpPr>
        <p:spPr>
          <a:xfrm flipH="1">
            <a:off x="6157079" y="1388640"/>
            <a:ext cx="22400" cy="5470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63" name="Google Shape;463;p30">
            <a:extLst>
              <a:ext uri="{FF2B5EF4-FFF2-40B4-BE49-F238E27FC236}">
                <a16:creationId xmlns:a16="http://schemas.microsoft.com/office/drawing/2014/main" id="{18D802C8-CD1B-5C7C-1DD4-CBA0CEBE94DA}"/>
              </a:ext>
            </a:extLst>
          </p:cNvPr>
          <p:cNvCxnSpPr/>
          <p:nvPr/>
        </p:nvCxnSpPr>
        <p:spPr>
          <a:xfrm>
            <a:off x="174587" y="3879575"/>
            <a:ext cx="11870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4" name="Google Shape;464;p30">
            <a:extLst>
              <a:ext uri="{FF2B5EF4-FFF2-40B4-BE49-F238E27FC236}">
                <a16:creationId xmlns:a16="http://schemas.microsoft.com/office/drawing/2014/main" id="{68390DF6-5864-8E74-34E8-28968F7CBB9F}"/>
              </a:ext>
            </a:extLst>
          </p:cNvPr>
          <p:cNvSpPr/>
          <p:nvPr/>
        </p:nvSpPr>
        <p:spPr>
          <a:xfrm>
            <a:off x="525383" y="1092437"/>
            <a:ext cx="52332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Objective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5" name="Google Shape;465;p30">
            <a:extLst>
              <a:ext uri="{FF2B5EF4-FFF2-40B4-BE49-F238E27FC236}">
                <a16:creationId xmlns:a16="http://schemas.microsoft.com/office/drawing/2014/main" id="{784138D6-C730-43B7-90B6-1F0A5A8FD388}"/>
              </a:ext>
            </a:extLst>
          </p:cNvPr>
          <p:cNvSpPr/>
          <p:nvPr/>
        </p:nvSpPr>
        <p:spPr>
          <a:xfrm>
            <a:off x="6187449" y="1192755"/>
            <a:ext cx="5811400" cy="5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Key Deliverables in 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Nov-Dec 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2025</a:t>
            </a:r>
            <a:endParaRPr sz="2000">
              <a:solidFill>
                <a:schemeClr val="lt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6" name="Google Shape;466;p30">
            <a:extLst>
              <a:ext uri="{FF2B5EF4-FFF2-40B4-BE49-F238E27FC236}">
                <a16:creationId xmlns:a16="http://schemas.microsoft.com/office/drawing/2014/main" id="{2512EC33-A4F9-F4EA-CE5B-F1D782BDD060}"/>
              </a:ext>
            </a:extLst>
          </p:cNvPr>
          <p:cNvSpPr/>
          <p:nvPr/>
        </p:nvSpPr>
        <p:spPr>
          <a:xfrm>
            <a:off x="358776" y="3878704"/>
            <a:ext cx="55584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Plan for next </a:t>
            </a: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month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9" name="Google Shape;469;p30">
            <a:extLst>
              <a:ext uri="{FF2B5EF4-FFF2-40B4-BE49-F238E27FC236}">
                <a16:creationId xmlns:a16="http://schemas.microsoft.com/office/drawing/2014/main" id="{7EF882C9-A6A0-B548-386A-A2B7BADDE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156" y="1864658"/>
            <a:ext cx="5595570" cy="382068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16932" indent="0" algn="just">
              <a:buSzPts val="1200"/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 &amp; Game changers</a:t>
            </a: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6932" indent="0" algn="just">
              <a:buSzPts val="120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how the project delivers value: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Business impact (efficiency, cost, compliance, scalability)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or process differentiators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solution is better than alternatives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Gamechangers can be Accuracy/Cost/Security</a:t>
            </a:r>
          </a:p>
          <a:p>
            <a:pPr marL="16932" indent="0" algn="just">
              <a:buSzPts val="1200"/>
              <a:buNone/>
            </a:pP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6932" indent="0" algn="just">
              <a:buSzPts val="1200"/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Accomplishments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&lt;Month Name&gt; : &lt;Mar 2026&gt; </a:t>
            </a:r>
          </a:p>
          <a:p>
            <a:pPr marL="16932" indent="0" algn="just">
              <a:buSzPts val="120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major achievements since the last update: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 completed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delivered / demos conducted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decisions, approvals, or integrations completed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Reusable Assets/Solutions/Opportunities: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Yes/No</a:t>
            </a:r>
          </a:p>
          <a:p>
            <a:pPr marL="16932" indent="0" algn="just">
              <a:buSzPts val="1200"/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Upcoming Milestone: </a:t>
            </a:r>
          </a:p>
        </p:txBody>
      </p:sp>
      <p:sp>
        <p:nvSpPr>
          <p:cNvPr id="470" name="Google Shape;470;p30">
            <a:extLst>
              <a:ext uri="{FF2B5EF4-FFF2-40B4-BE49-F238E27FC236}">
                <a16:creationId xmlns:a16="http://schemas.microsoft.com/office/drawing/2014/main" id="{AFBD69EA-2E16-9206-B2D5-2F99E066C3CD}"/>
              </a:ext>
            </a:extLst>
          </p:cNvPr>
          <p:cNvSpPr txBox="1"/>
          <p:nvPr/>
        </p:nvSpPr>
        <p:spPr>
          <a:xfrm>
            <a:off x="0" y="229968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Insurance/Fintech || </a:t>
            </a: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Team: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Name1, Name2, Name3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" name="Picture 3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C640114F-A4FF-396A-13CD-E1069131D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8" y="1136037"/>
            <a:ext cx="396000" cy="396000"/>
          </a:xfrm>
          <a:prstGeom prst="rect">
            <a:avLst/>
          </a:prstGeom>
        </p:spPr>
      </p:pic>
      <p:pic>
        <p:nvPicPr>
          <p:cNvPr id="7" name="Picture 6" descr="A group of people with arms up and a star above them&#10;&#10;AI-generated content may be incorrect.">
            <a:extLst>
              <a:ext uri="{FF2B5EF4-FFF2-40B4-BE49-F238E27FC236}">
                <a16:creationId xmlns:a16="http://schemas.microsoft.com/office/drawing/2014/main" id="{1BBEFB57-4909-3441-91BF-9BAF70527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3801607"/>
            <a:ext cx="396000" cy="396000"/>
          </a:xfrm>
          <a:prstGeom prst="rect">
            <a:avLst/>
          </a:prstGeom>
        </p:spPr>
      </p:pic>
      <p:pic>
        <p:nvPicPr>
          <p:cNvPr id="10" name="Picture 9" descr="A handshake with a tick and a white cloud&#10;&#10;AI-generated content may be incorrect.">
            <a:extLst>
              <a:ext uri="{FF2B5EF4-FFF2-40B4-BE49-F238E27FC236}">
                <a16:creationId xmlns:a16="http://schemas.microsoft.com/office/drawing/2014/main" id="{E8E5579A-A321-4495-6810-C11A2024EF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4" y="2060295"/>
            <a:ext cx="396000" cy="396000"/>
          </a:xfrm>
          <a:prstGeom prst="rect">
            <a:avLst/>
          </a:prstGeom>
        </p:spPr>
      </p:pic>
      <p:pic>
        <p:nvPicPr>
          <p:cNvPr id="12" name="Picture 11" descr="A person holding a paper plane&#10;&#10;AI-generated content may be incorrect.">
            <a:extLst>
              <a:ext uri="{FF2B5EF4-FFF2-40B4-BE49-F238E27FC236}">
                <a16:creationId xmlns:a16="http://schemas.microsoft.com/office/drawing/2014/main" id="{A65EC53A-2016-FF09-219D-90835E456A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4" y="3411820"/>
            <a:ext cx="396000" cy="396000"/>
          </a:xfrm>
          <a:prstGeom prst="rect">
            <a:avLst/>
          </a:prstGeom>
        </p:spPr>
      </p:pic>
      <p:sp>
        <p:nvSpPr>
          <p:cNvPr id="2" name="Google Shape;469;p30">
            <a:extLst>
              <a:ext uri="{FF2B5EF4-FFF2-40B4-BE49-F238E27FC236}">
                <a16:creationId xmlns:a16="http://schemas.microsoft.com/office/drawing/2014/main" id="{00DEAA9E-D95E-BB8F-F108-1A8A8FC862B3}"/>
              </a:ext>
            </a:extLst>
          </p:cNvPr>
          <p:cNvSpPr txBox="1">
            <a:spLocks/>
          </p:cNvSpPr>
          <p:nvPr/>
        </p:nvSpPr>
        <p:spPr>
          <a:xfrm>
            <a:off x="7159257" y="1864658"/>
            <a:ext cx="4886130" cy="41210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Deliverables (Next one Months):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high-level deliverables and milestones: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goals / releases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or modules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Reviews, UAT, or go-live preparation activities</a:t>
            </a:r>
          </a:p>
          <a:p>
            <a:pPr marL="0" indent="0"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 &amp; Challenges: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6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out only material risks: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FF6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Schedule, dependency, resource, or scope risks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FF6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or data-related challenges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&amp; improvements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feedback from stakeholders: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feedback, endorsements, or recognitions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improvement suggestions or change requests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ipboard with a graph on it&#10;&#10;AI-generated content may be incorrect.">
            <a:extLst>
              <a:ext uri="{FF2B5EF4-FFF2-40B4-BE49-F238E27FC236}">
                <a16:creationId xmlns:a16="http://schemas.microsoft.com/office/drawing/2014/main" id="{2108D23D-1E8E-7B10-DA5F-EC7F1352F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2372824"/>
            <a:ext cx="396000" cy="396000"/>
          </a:xfrm>
          <a:prstGeom prst="rect">
            <a:avLst/>
          </a:prstGeom>
        </p:spPr>
      </p:pic>
      <p:pic>
        <p:nvPicPr>
          <p:cNvPr id="9" name="Picture 8" descr="A couple of people sitting at a table&#10;&#10;AI-generated content may be incorrect.">
            <a:extLst>
              <a:ext uri="{FF2B5EF4-FFF2-40B4-BE49-F238E27FC236}">
                <a16:creationId xmlns:a16="http://schemas.microsoft.com/office/drawing/2014/main" id="{7EEA42CF-6C90-27E7-7BA1-E4CB6AB13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4" y="4444430"/>
            <a:ext cx="396000" cy="39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72EAF0-7DEA-55AF-300B-42B24357F04E}"/>
              </a:ext>
            </a:extLst>
          </p:cNvPr>
          <p:cNvSpPr txBox="1"/>
          <p:nvPr/>
        </p:nvSpPr>
        <p:spPr>
          <a:xfrm>
            <a:off x="495717" y="1083765"/>
            <a:ext cx="115454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Objective: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1–2 sentences that clearly state: What problem the project solves, What business capability it delivers, Who benefits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335FAF-9199-847F-9526-4428E73DC662}"/>
              </a:ext>
            </a:extLst>
          </p:cNvPr>
          <p:cNvCxnSpPr/>
          <p:nvPr/>
        </p:nvCxnSpPr>
        <p:spPr>
          <a:xfrm>
            <a:off x="405314" y="8908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19B6521-17C4-FCDF-76A7-A90C668898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7" y="5051404"/>
            <a:ext cx="396000" cy="396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41E045-FE9A-2233-46E5-097BD3A447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129" y="5544534"/>
            <a:ext cx="396000" cy="396000"/>
          </a:xfrm>
          <a:prstGeom prst="rect">
            <a:avLst/>
          </a:prstGeom>
        </p:spPr>
      </p:pic>
      <p:sp>
        <p:nvSpPr>
          <p:cNvPr id="18" name="Google Shape;469;p30">
            <a:extLst>
              <a:ext uri="{FF2B5EF4-FFF2-40B4-BE49-F238E27FC236}">
                <a16:creationId xmlns:a16="http://schemas.microsoft.com/office/drawing/2014/main" id="{AC4D0540-6CEF-837A-6E1C-DAFCB3DDAC4E}"/>
              </a:ext>
            </a:extLst>
          </p:cNvPr>
          <p:cNvSpPr txBox="1">
            <a:spLocks/>
          </p:cNvSpPr>
          <p:nvPr/>
        </p:nvSpPr>
        <p:spPr>
          <a:xfrm>
            <a:off x="548156" y="6283122"/>
            <a:ext cx="4232453" cy="344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Font typeface="Arial"/>
              <a:buNone/>
            </a:pPr>
            <a:r>
              <a:rPr lang="en" sz="1400" b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Links</a:t>
            </a:r>
            <a:r>
              <a:rPr lang="en" sz="1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6932" indent="0" algn="just">
              <a:buSzPts val="1200"/>
              <a:buFont typeface="Arial"/>
              <a:buNone/>
            </a:pPr>
            <a:endParaRPr lang="e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F8F0F48-080E-6FF2-7C4E-62F12863F5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6263711"/>
            <a:ext cx="396000" cy="396000"/>
          </a:xfrm>
          <a:prstGeom prst="rect">
            <a:avLst/>
          </a:prstGeom>
        </p:spPr>
      </p:pic>
      <p:sp>
        <p:nvSpPr>
          <p:cNvPr id="23" name="Google Shape;469;p30">
            <a:extLst>
              <a:ext uri="{FF2B5EF4-FFF2-40B4-BE49-F238E27FC236}">
                <a16:creationId xmlns:a16="http://schemas.microsoft.com/office/drawing/2014/main" id="{908F4453-E74C-A295-D839-5BD8DC5C231D}"/>
              </a:ext>
            </a:extLst>
          </p:cNvPr>
          <p:cNvSpPr txBox="1">
            <a:spLocks/>
          </p:cNvSpPr>
          <p:nvPr/>
        </p:nvSpPr>
        <p:spPr>
          <a:xfrm>
            <a:off x="7123504" y="5544534"/>
            <a:ext cx="4232453" cy="344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Font typeface="Arial"/>
              <a:buNone/>
            </a:pPr>
            <a:r>
              <a:rPr lang="en" sz="1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Links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6932" indent="0" algn="just">
              <a:buSzPts val="1200"/>
              <a:buFont typeface="Arial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5C87985-5B1D-5414-8917-B79D330C07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5690870"/>
            <a:ext cx="396000" cy="396000"/>
          </a:xfrm>
          <a:prstGeom prst="rect">
            <a:avLst/>
          </a:prstGeom>
        </p:spPr>
      </p:pic>
      <p:sp>
        <p:nvSpPr>
          <p:cNvPr id="26" name="Google Shape;470;p30">
            <a:extLst>
              <a:ext uri="{FF2B5EF4-FFF2-40B4-BE49-F238E27FC236}">
                <a16:creationId xmlns:a16="http://schemas.microsoft.com/office/drawing/2014/main" id="{2BD9EF78-08AC-DF34-C9CF-664880451D48}"/>
              </a:ext>
            </a:extLst>
          </p:cNvPr>
          <p:cNvSpPr txBox="1"/>
          <p:nvPr/>
        </p:nvSpPr>
        <p:spPr>
          <a:xfrm>
            <a:off x="0" y="477912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Starting TRL: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(Month-Year)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Current TRL: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Target TRL: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(Month-Year)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|| </a:t>
            </a:r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Project Status: </a:t>
            </a:r>
            <a:endParaRPr lang="en-US" sz="1600" b="1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AA8289-10B5-4CE7-3ABD-ECAB55EA85FF}"/>
              </a:ext>
            </a:extLst>
          </p:cNvPr>
          <p:cNvCxnSpPr/>
          <p:nvPr/>
        </p:nvCxnSpPr>
        <p:spPr>
          <a:xfrm>
            <a:off x="424927" y="18179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1CD970F-ED1B-BA7A-BE16-63EE48F0F8E1}"/>
              </a:ext>
            </a:extLst>
          </p:cNvPr>
          <p:cNvSpPr/>
          <p:nvPr/>
        </p:nvSpPr>
        <p:spPr>
          <a:xfrm>
            <a:off x="10693201" y="606810"/>
            <a:ext cx="252901" cy="2396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B2B590-F1DE-580B-53B1-673802E813FC}"/>
              </a:ext>
            </a:extLst>
          </p:cNvPr>
          <p:cNvSpPr/>
          <p:nvPr/>
        </p:nvSpPr>
        <p:spPr>
          <a:xfrm>
            <a:off x="11012802" y="613193"/>
            <a:ext cx="252901" cy="23969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494144-A7EB-82EB-A680-3C0F4E0B569F}"/>
              </a:ext>
            </a:extLst>
          </p:cNvPr>
          <p:cNvSpPr/>
          <p:nvPr/>
        </p:nvSpPr>
        <p:spPr>
          <a:xfrm>
            <a:off x="11319735" y="609998"/>
            <a:ext cx="252901" cy="23969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51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261</Words>
  <Application>Microsoft Macintosh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Times New Roman</vt:lpstr>
      <vt:lpstr>Wingdings</vt:lpstr>
      <vt:lpstr>Office Theme</vt:lpstr>
      <vt:lpstr>   PROJECT Name  : &lt;Enter your Project name&gt;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Seshan</dc:creator>
  <cp:lastModifiedBy>UMA SESHADRI</cp:lastModifiedBy>
  <cp:revision>7</cp:revision>
  <dcterms:created xsi:type="dcterms:W3CDTF">2026-01-12T08:43:54Z</dcterms:created>
  <dcterms:modified xsi:type="dcterms:W3CDTF">2026-03-13T09:38:49Z</dcterms:modified>
</cp:coreProperties>
</file>